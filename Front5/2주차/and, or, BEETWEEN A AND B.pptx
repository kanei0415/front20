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6" r:id="rId4"/>
    <p:sldId id="264" r:id="rId5"/>
    <p:sldId id="267" r:id="rId6"/>
    <p:sldId id="268" r:id="rId7"/>
    <p:sldId id="262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6" d="100"/>
          <a:sy n="116" d="100"/>
        </p:scale>
        <p:origin x="-1494" y="-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772400" cy="1470025"/>
          </a:xfrm>
        </p:spPr>
        <p:txBody>
          <a:bodyPr/>
          <a:lstStyle/>
          <a:p>
            <a:r>
              <a:rPr lang="en-US" altLang="ko-KR" b="1" dirty="0" smtClean="0"/>
              <a:t>select ~ where </a:t>
            </a:r>
            <a:r>
              <a:rPr lang="ko-KR" altLang="en-US" b="1" dirty="0" smtClean="0"/>
              <a:t>쿼리 예제</a:t>
            </a:r>
            <a:endParaRPr lang="ko-KR" altLang="en-US" b="1" dirty="0"/>
          </a:p>
        </p:txBody>
      </p:sp>
      <p:pic>
        <p:nvPicPr>
          <p:cNvPr id="4" name="Picture 2" descr="C:\Users\kgitbank\Desktop\마이에스큐엘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420888"/>
            <a:ext cx="4176464" cy="215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0893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772400" cy="2520280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and, or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781582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kgitbank\Desktop\수업자료 모음\15. MySQL(18.07.28)\update, alter 연습\alter, update\alter, update\alter table, rename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639"/>
            <a:ext cx="7560840" cy="3166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5016" y="3501008"/>
            <a:ext cx="8767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rgbClr val="FF0000"/>
                </a:solidFill>
              </a:rPr>
              <a:t>현재 데이터의 상태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1187624" y="548680"/>
            <a:ext cx="417646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744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kgitbank\Desktop\수업자료 모음\15. MySQL(18.07.28)\mysql and or\and o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959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/>
          <p:cNvCxnSpPr/>
          <p:nvPr/>
        </p:nvCxnSpPr>
        <p:spPr>
          <a:xfrm>
            <a:off x="971600" y="260648"/>
            <a:ext cx="79928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971600" y="1052736"/>
            <a:ext cx="79928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-5704" y="3068960"/>
            <a:ext cx="914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s</a:t>
            </a:r>
            <a:r>
              <a:rPr lang="en-US" altLang="ko-KR" b="1" dirty="0" smtClean="0">
                <a:solidFill>
                  <a:srgbClr val="FF0000"/>
                </a:solidFill>
              </a:rPr>
              <a:t>elect * from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univ_student</a:t>
            </a:r>
            <a:r>
              <a:rPr lang="en-US" altLang="ko-KR" b="1" dirty="0" smtClean="0">
                <a:solidFill>
                  <a:srgbClr val="FF0000"/>
                </a:solidFill>
              </a:rPr>
              <a:t> where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gpa</a:t>
            </a:r>
            <a:r>
              <a:rPr lang="en-US" altLang="ko-KR" b="1" dirty="0" smtClean="0">
                <a:solidFill>
                  <a:srgbClr val="FF0000"/>
                </a:solidFill>
              </a:rPr>
              <a:t> &gt;= 4.0 and TOEIC &gt;= 800;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3438292"/>
            <a:ext cx="914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solidFill>
                  <a:schemeClr val="tx2"/>
                </a:solidFill>
              </a:rPr>
              <a:t>u</a:t>
            </a:r>
            <a:r>
              <a:rPr lang="en-US" altLang="ko-KR" b="1" dirty="0" err="1" smtClean="0">
                <a:solidFill>
                  <a:schemeClr val="tx2"/>
                </a:solidFill>
              </a:rPr>
              <a:t>niv_student</a:t>
            </a:r>
            <a:r>
              <a:rPr lang="en-US" altLang="ko-KR" b="1" dirty="0" smtClean="0">
                <a:solidFill>
                  <a:schemeClr val="tx2"/>
                </a:solidFill>
              </a:rPr>
              <a:t> </a:t>
            </a:r>
            <a:r>
              <a:rPr lang="ko-KR" altLang="en-US" b="1" dirty="0" smtClean="0">
                <a:solidFill>
                  <a:schemeClr val="tx2"/>
                </a:solidFill>
              </a:rPr>
              <a:t>테이블에서 </a:t>
            </a:r>
            <a:r>
              <a:rPr lang="en-US" altLang="ko-KR" b="1" dirty="0" err="1" smtClean="0">
                <a:solidFill>
                  <a:schemeClr val="tx2"/>
                </a:solidFill>
              </a:rPr>
              <a:t>gpa</a:t>
            </a:r>
            <a:r>
              <a:rPr lang="ko-KR" altLang="en-US" b="1" dirty="0" smtClean="0">
                <a:solidFill>
                  <a:schemeClr val="tx2"/>
                </a:solidFill>
              </a:rPr>
              <a:t>가 </a:t>
            </a:r>
            <a:r>
              <a:rPr lang="en-US" altLang="ko-KR" b="1" dirty="0" smtClean="0">
                <a:solidFill>
                  <a:schemeClr val="tx2"/>
                </a:solidFill>
              </a:rPr>
              <a:t>4.0</a:t>
            </a:r>
            <a:r>
              <a:rPr lang="ko-KR" altLang="en-US" b="1" dirty="0" smtClean="0">
                <a:solidFill>
                  <a:schemeClr val="tx2"/>
                </a:solidFill>
              </a:rPr>
              <a:t>이상이고</a:t>
            </a:r>
            <a:r>
              <a:rPr lang="en-US" altLang="ko-KR" b="1" dirty="0" smtClean="0">
                <a:solidFill>
                  <a:schemeClr val="tx2"/>
                </a:solidFill>
              </a:rPr>
              <a:t>, TOEIC</a:t>
            </a:r>
            <a:r>
              <a:rPr lang="ko-KR" altLang="en-US" b="1" dirty="0" smtClean="0">
                <a:solidFill>
                  <a:schemeClr val="tx2"/>
                </a:solidFill>
              </a:rPr>
              <a:t>도 </a:t>
            </a:r>
            <a:r>
              <a:rPr lang="en-US" altLang="ko-KR" b="1" dirty="0" smtClean="0">
                <a:solidFill>
                  <a:schemeClr val="tx2"/>
                </a:solidFill>
              </a:rPr>
              <a:t>800</a:t>
            </a:r>
            <a:r>
              <a:rPr lang="ko-KR" altLang="en-US" b="1" dirty="0" smtClean="0">
                <a:solidFill>
                  <a:schemeClr val="tx2"/>
                </a:solidFill>
              </a:rPr>
              <a:t>이상인 모든 요소를 출력</a:t>
            </a:r>
            <a:endParaRPr lang="ko-KR" altLang="en-US" b="1" dirty="0">
              <a:solidFill>
                <a:schemeClr val="tx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3941937"/>
            <a:ext cx="914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00B050"/>
                </a:solidFill>
              </a:rPr>
              <a:t>둘 다 만족해야 하는데</a:t>
            </a:r>
            <a:r>
              <a:rPr lang="en-US" altLang="ko-KR" b="1" dirty="0" smtClean="0">
                <a:solidFill>
                  <a:srgbClr val="00B050"/>
                </a:solidFill>
              </a:rPr>
              <a:t>, </a:t>
            </a:r>
            <a:r>
              <a:rPr lang="ko-KR" altLang="en-US" b="1" dirty="0" smtClean="0">
                <a:solidFill>
                  <a:srgbClr val="00B050"/>
                </a:solidFill>
              </a:rPr>
              <a:t>둘 다 만족하는 데이터가 없습니다</a:t>
            </a:r>
            <a:r>
              <a:rPr lang="en-US" altLang="ko-KR" b="1" dirty="0" smtClean="0">
                <a:solidFill>
                  <a:srgbClr val="00B050"/>
                </a:solidFill>
              </a:rPr>
              <a:t>.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62" y="4788271"/>
            <a:ext cx="914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s</a:t>
            </a:r>
            <a:r>
              <a:rPr lang="en-US" altLang="ko-KR" b="1" dirty="0" smtClean="0">
                <a:solidFill>
                  <a:srgbClr val="FF0000"/>
                </a:solidFill>
              </a:rPr>
              <a:t>elect * from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univ_student</a:t>
            </a:r>
            <a:r>
              <a:rPr lang="en-US" altLang="ko-KR" b="1" dirty="0" smtClean="0">
                <a:solidFill>
                  <a:srgbClr val="FF0000"/>
                </a:solidFill>
              </a:rPr>
              <a:t> where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gpa</a:t>
            </a:r>
            <a:r>
              <a:rPr lang="en-US" altLang="ko-KR" b="1" dirty="0" smtClean="0">
                <a:solidFill>
                  <a:srgbClr val="FF0000"/>
                </a:solidFill>
              </a:rPr>
              <a:t> &gt;= 4.0 or TOEIC &gt;= 800;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66" y="5157603"/>
            <a:ext cx="9242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solidFill>
                  <a:schemeClr val="tx2"/>
                </a:solidFill>
              </a:rPr>
              <a:t>u</a:t>
            </a:r>
            <a:r>
              <a:rPr lang="en-US" altLang="ko-KR" b="1" dirty="0" err="1" smtClean="0">
                <a:solidFill>
                  <a:schemeClr val="tx2"/>
                </a:solidFill>
              </a:rPr>
              <a:t>niv_student</a:t>
            </a:r>
            <a:r>
              <a:rPr lang="en-US" altLang="ko-KR" b="1" dirty="0" smtClean="0">
                <a:solidFill>
                  <a:schemeClr val="tx2"/>
                </a:solidFill>
              </a:rPr>
              <a:t> </a:t>
            </a:r>
            <a:r>
              <a:rPr lang="ko-KR" altLang="en-US" b="1" dirty="0" smtClean="0">
                <a:solidFill>
                  <a:schemeClr val="tx2"/>
                </a:solidFill>
              </a:rPr>
              <a:t>테이블에서 </a:t>
            </a:r>
            <a:r>
              <a:rPr lang="en-US" altLang="ko-KR" b="1" dirty="0" err="1" smtClean="0">
                <a:solidFill>
                  <a:schemeClr val="tx2"/>
                </a:solidFill>
              </a:rPr>
              <a:t>gpa</a:t>
            </a:r>
            <a:r>
              <a:rPr lang="ko-KR" altLang="en-US" b="1" dirty="0" smtClean="0">
                <a:solidFill>
                  <a:schemeClr val="tx2"/>
                </a:solidFill>
              </a:rPr>
              <a:t>가 </a:t>
            </a:r>
            <a:r>
              <a:rPr lang="en-US" altLang="ko-KR" b="1" dirty="0" smtClean="0">
                <a:solidFill>
                  <a:schemeClr val="tx2"/>
                </a:solidFill>
              </a:rPr>
              <a:t>4.0</a:t>
            </a:r>
            <a:r>
              <a:rPr lang="ko-KR" altLang="en-US" b="1" dirty="0" smtClean="0">
                <a:solidFill>
                  <a:schemeClr val="tx2"/>
                </a:solidFill>
              </a:rPr>
              <a:t>이상 이거나</a:t>
            </a:r>
            <a:r>
              <a:rPr lang="en-US" altLang="ko-KR" b="1" dirty="0" smtClean="0">
                <a:solidFill>
                  <a:schemeClr val="tx2"/>
                </a:solidFill>
              </a:rPr>
              <a:t>, TOEIC</a:t>
            </a:r>
            <a:r>
              <a:rPr lang="ko-KR" altLang="en-US" b="1" dirty="0">
                <a:solidFill>
                  <a:schemeClr val="tx2"/>
                </a:solidFill>
              </a:rPr>
              <a:t>이</a:t>
            </a:r>
            <a:r>
              <a:rPr lang="ko-KR" altLang="en-US" b="1" dirty="0" smtClean="0">
                <a:solidFill>
                  <a:schemeClr val="tx2"/>
                </a:solidFill>
              </a:rPr>
              <a:t> </a:t>
            </a:r>
            <a:r>
              <a:rPr lang="en-US" altLang="ko-KR" b="1" dirty="0" smtClean="0">
                <a:solidFill>
                  <a:schemeClr val="tx2"/>
                </a:solidFill>
              </a:rPr>
              <a:t>800</a:t>
            </a:r>
            <a:r>
              <a:rPr lang="ko-KR" altLang="en-US" b="1" dirty="0" smtClean="0">
                <a:solidFill>
                  <a:schemeClr val="tx2"/>
                </a:solidFill>
              </a:rPr>
              <a:t>이상인 모든 요소를 출력</a:t>
            </a:r>
            <a:endParaRPr lang="ko-KR" altLang="en-US" b="1" dirty="0">
              <a:solidFill>
                <a:schemeClr val="tx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66" y="5661248"/>
            <a:ext cx="914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00B050"/>
                </a:solidFill>
              </a:rPr>
              <a:t>둘 중에 하나만 만족하면 되므로 </a:t>
            </a:r>
            <a:r>
              <a:rPr lang="en-US" altLang="ko-KR" b="1" dirty="0" smtClean="0">
                <a:solidFill>
                  <a:srgbClr val="00B050"/>
                </a:solidFill>
              </a:rPr>
              <a:t>2</a:t>
            </a:r>
            <a:r>
              <a:rPr lang="ko-KR" altLang="en-US" b="1" dirty="0" smtClean="0">
                <a:solidFill>
                  <a:srgbClr val="00B050"/>
                </a:solidFill>
              </a:rPr>
              <a:t>개의 데이터가 출력 되었습니다</a:t>
            </a:r>
            <a:r>
              <a:rPr lang="en-US" altLang="ko-KR" b="1" dirty="0" smtClean="0">
                <a:solidFill>
                  <a:srgbClr val="00B050"/>
                </a:solidFill>
              </a:rPr>
              <a:t>.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524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772400" cy="2520280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BEETWEEN A AND B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68514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kgitbank\Desktop\수업자료 모음\15. MySQL(18.07.28)\mysql and or\BEETWEEN A AND 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431"/>
            <a:ext cx="9144000" cy="2366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직선 연결선 5"/>
          <p:cNvCxnSpPr/>
          <p:nvPr/>
        </p:nvCxnSpPr>
        <p:spPr>
          <a:xfrm>
            <a:off x="971600" y="332656"/>
            <a:ext cx="79928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제목 1"/>
          <p:cNvSpPr>
            <a:spLocks noGrp="1"/>
          </p:cNvSpPr>
          <p:nvPr>
            <p:ph type="ctrTitle"/>
          </p:nvPr>
        </p:nvSpPr>
        <p:spPr>
          <a:xfrm>
            <a:off x="0" y="3861048"/>
            <a:ext cx="7772400" cy="1055236"/>
          </a:xfrm>
        </p:spPr>
        <p:txBody>
          <a:bodyPr>
            <a:normAutofit/>
          </a:bodyPr>
          <a:lstStyle/>
          <a:p>
            <a:r>
              <a:rPr lang="ko-KR" altLang="en-US" sz="2800" b="1" dirty="0" err="1" smtClean="0"/>
              <a:t>토익</a:t>
            </a:r>
            <a:r>
              <a:rPr lang="ko-KR" altLang="en-US" sz="2800" b="1" dirty="0" smtClean="0"/>
              <a:t> 점수가 </a:t>
            </a:r>
            <a:r>
              <a:rPr lang="en-US" altLang="ko-KR" sz="2800" b="1" dirty="0" smtClean="0"/>
              <a:t>700</a:t>
            </a:r>
            <a:r>
              <a:rPr lang="ko-KR" altLang="en-US" sz="2800" b="1" dirty="0" smtClean="0"/>
              <a:t>과 </a:t>
            </a:r>
            <a:r>
              <a:rPr lang="en-US" altLang="ko-KR" sz="2800" b="1" dirty="0" smtClean="0"/>
              <a:t>800</a:t>
            </a:r>
            <a:r>
              <a:rPr lang="ko-KR" altLang="en-US" sz="2800" b="1" dirty="0" smtClean="0"/>
              <a:t>사이인 데이터는 </a:t>
            </a:r>
            <a:r>
              <a:rPr lang="en-US" altLang="ko-KR" sz="2800" b="1" dirty="0" smtClean="0"/>
              <a:t/>
            </a:r>
            <a:br>
              <a:rPr lang="en-US" altLang="ko-KR" sz="2800" b="1" dirty="0" smtClean="0"/>
            </a:br>
            <a:r>
              <a:rPr lang="en-US" altLang="ko-KR" sz="2800" b="1" dirty="0" smtClean="0"/>
              <a:t>2</a:t>
            </a:r>
            <a:r>
              <a:rPr lang="ko-KR" altLang="en-US" sz="2800" b="1" dirty="0" smtClean="0"/>
              <a:t>개가 있습니다</a:t>
            </a:r>
            <a:r>
              <a:rPr lang="en-US" altLang="ko-KR" sz="2800" b="1" dirty="0"/>
              <a:t>.</a:t>
            </a:r>
            <a:endParaRPr lang="ko-KR" altLang="en-US" sz="2800" b="1" dirty="0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-45720" y="2385716"/>
            <a:ext cx="7772400" cy="1055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smtClean="0">
                <a:solidFill>
                  <a:srgbClr val="FF0000"/>
                </a:solidFill>
              </a:rPr>
              <a:t>BEETWEEN A AND B </a:t>
            </a:r>
            <a:r>
              <a:rPr lang="ko-KR" altLang="en-US" sz="2800" b="1" smtClean="0"/>
              <a:t>는</a:t>
            </a:r>
            <a:r>
              <a:rPr lang="en-US" altLang="ko-KR" sz="2800" b="1" smtClean="0"/>
              <a:t/>
            </a:r>
            <a:br>
              <a:rPr lang="en-US" altLang="ko-KR" sz="2800" b="1" smtClean="0"/>
            </a:br>
            <a:r>
              <a:rPr lang="ko-KR" altLang="en-US" sz="2800" b="1" smtClean="0"/>
              <a:t>영어에서 </a:t>
            </a:r>
            <a:r>
              <a:rPr lang="en-US" altLang="ko-KR" sz="2800" b="1" smtClean="0">
                <a:solidFill>
                  <a:schemeClr val="tx2"/>
                </a:solidFill>
              </a:rPr>
              <a:t>A</a:t>
            </a:r>
            <a:r>
              <a:rPr lang="ko-KR" altLang="en-US" sz="2800" b="1" smtClean="0">
                <a:solidFill>
                  <a:schemeClr val="tx2"/>
                </a:solidFill>
              </a:rPr>
              <a:t>와 </a:t>
            </a:r>
            <a:r>
              <a:rPr lang="en-US" altLang="ko-KR" sz="2800" b="1" smtClean="0">
                <a:solidFill>
                  <a:schemeClr val="tx2"/>
                </a:solidFill>
              </a:rPr>
              <a:t>B </a:t>
            </a:r>
            <a:r>
              <a:rPr lang="ko-KR" altLang="en-US" sz="2800" b="1" smtClean="0">
                <a:solidFill>
                  <a:schemeClr val="tx2"/>
                </a:solidFill>
              </a:rPr>
              <a:t>사이</a:t>
            </a:r>
            <a:r>
              <a:rPr lang="ko-KR" altLang="en-US" sz="2800" b="1" smtClean="0"/>
              <a:t>라는 뜻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023858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5856" y="1791960"/>
            <a:ext cx="280831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 b="1" dirty="0" smtClean="0"/>
              <a:t>끝</a:t>
            </a:r>
            <a:endParaRPr lang="ko-KR" altLang="en-US" sz="16600" b="1" dirty="0"/>
          </a:p>
        </p:txBody>
      </p:sp>
    </p:spTree>
    <p:extLst>
      <p:ext uri="{BB962C8B-B14F-4D97-AF65-F5344CB8AC3E}">
        <p14:creationId xmlns:p14="http://schemas.microsoft.com/office/powerpoint/2010/main" val="109726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105</Words>
  <Application>Microsoft Office PowerPoint</Application>
  <PresentationFormat>화면 슬라이드 쇼(4:3)</PresentationFormat>
  <Paragraphs>13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select ~ where 쿼리 예제</vt:lpstr>
      <vt:lpstr>and, or</vt:lpstr>
      <vt:lpstr>PowerPoint 프레젠테이션</vt:lpstr>
      <vt:lpstr>PowerPoint 프레젠테이션</vt:lpstr>
      <vt:lpstr>BEETWEEN A AND B</vt:lpstr>
      <vt:lpstr>토익 점수가 700과 800사이인 데이터는  2개가 있습니다.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Windows 사용자</cp:lastModifiedBy>
  <cp:revision>15</cp:revision>
  <dcterms:created xsi:type="dcterms:W3CDTF">2006-10-05T04:04:58Z</dcterms:created>
  <dcterms:modified xsi:type="dcterms:W3CDTF">2020-09-11T05:52:00Z</dcterms:modified>
</cp:coreProperties>
</file>